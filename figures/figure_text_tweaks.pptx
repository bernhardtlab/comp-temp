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766D"/>
    <a:srgbClr val="00B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91"/>
    <p:restoredTop sz="94610"/>
  </p:normalViewPr>
  <p:slideViewPr>
    <p:cSldViewPr snapToGrid="0">
      <p:cViewPr>
        <p:scale>
          <a:sx n="136" d="100"/>
          <a:sy n="136" d="100"/>
        </p:scale>
        <p:origin x="-7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0F23-DB78-8E4A-A80A-5E0316900D67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42F17-DBFD-9141-BF04-A5DB748DE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5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53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95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is bigger than B, it’s pink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79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698" t="23223" b="59472"/>
          <a:stretch/>
        </p:blipFill>
        <p:spPr>
          <a:xfrm>
            <a:off x="6753592" y="329698"/>
            <a:ext cx="879566" cy="1136470"/>
          </a:xfrm>
          <a:prstGeom prst="rect">
            <a:avLst/>
          </a:prstGeom>
        </p:spPr>
      </p:pic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40"/>
          <a:stretch/>
        </p:blipFill>
        <p:spPr>
          <a:xfrm>
            <a:off x="2322980" y="234694"/>
            <a:ext cx="7546040" cy="638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50A0CF-C59C-F3DD-5A80-3E042EB30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672" y="1241171"/>
            <a:ext cx="3612922" cy="292436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8C447222-70B1-84A4-7E39-9D86AE3EB62F}"/>
              </a:ext>
            </a:extLst>
          </p:cNvPr>
          <p:cNvGrpSpPr/>
          <p:nvPr/>
        </p:nvGrpSpPr>
        <p:grpSpPr>
          <a:xfrm>
            <a:off x="4044057" y="1288824"/>
            <a:ext cx="3612922" cy="2924361"/>
            <a:chOff x="659652" y="1856535"/>
            <a:chExt cx="3612922" cy="292436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C58051-DED1-DDD6-B7DD-A45422C8D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9652" y="1856535"/>
              <a:ext cx="3612922" cy="2924361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5777947-1A32-EB96-9AE3-76755BF4489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3164541"/>
              <a:ext cx="2474259" cy="1008530"/>
            </a:xfrm>
            <a:prstGeom prst="line">
              <a:avLst/>
            </a:prstGeom>
            <a:ln w="38100">
              <a:solidFill>
                <a:srgbClr val="F9766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1D0C79B-F046-B0A7-1FEA-BFA9AC9DC31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2209800"/>
              <a:ext cx="1237129" cy="1963271"/>
            </a:xfrm>
            <a:prstGeom prst="line">
              <a:avLst/>
            </a:prstGeom>
            <a:ln w="38100">
              <a:solidFill>
                <a:srgbClr val="00BFC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601376-4D98-C7BF-8108-EB115CC2B504}"/>
              </a:ext>
            </a:extLst>
          </p:cNvPr>
          <p:cNvCxnSpPr>
            <a:cxnSpLocks/>
          </p:cNvCxnSpPr>
          <p:nvPr/>
        </p:nvCxnSpPr>
        <p:spPr>
          <a:xfrm>
            <a:off x="8212178" y="1938749"/>
            <a:ext cx="2085708" cy="1608397"/>
          </a:xfrm>
          <a:prstGeom prst="line">
            <a:avLst/>
          </a:prstGeom>
          <a:ln w="38100">
            <a:solidFill>
              <a:srgbClr val="00B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65894-8DF6-1723-2A32-A0269723481C}"/>
              </a:ext>
            </a:extLst>
          </p:cNvPr>
          <p:cNvCxnSpPr>
            <a:cxnSpLocks/>
          </p:cNvCxnSpPr>
          <p:nvPr/>
        </p:nvCxnSpPr>
        <p:spPr>
          <a:xfrm>
            <a:off x="8190079" y="3042881"/>
            <a:ext cx="2726115" cy="504265"/>
          </a:xfrm>
          <a:prstGeom prst="line">
            <a:avLst/>
          </a:prstGeom>
          <a:ln w="38100">
            <a:solidFill>
              <a:srgbClr val="F97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166107-F499-5C06-D316-A62CFAD5D7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653" y="4637258"/>
            <a:ext cx="3169164" cy="2112038"/>
          </a:xfrm>
          <a:prstGeom prst="rect">
            <a:avLst/>
          </a:prstGeom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030834-6E33-609E-1CF3-4C0F1DF2A0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430" y="4650705"/>
            <a:ext cx="3169164" cy="2112038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0AC9853-564F-D66D-4A16-94D022B12EE0}"/>
              </a:ext>
            </a:extLst>
          </p:cNvPr>
          <p:cNvCxnSpPr/>
          <p:nvPr/>
        </p:nvCxnSpPr>
        <p:spPr>
          <a:xfrm flipH="1">
            <a:off x="5166527" y="2942360"/>
            <a:ext cx="255878" cy="154897"/>
          </a:xfrm>
          <a:prstGeom prst="straightConnector1">
            <a:avLst/>
          </a:prstGeom>
          <a:ln>
            <a:solidFill>
              <a:srgbClr val="00BF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556D558-B820-504F-D48C-14032D5C32FD}"/>
              </a:ext>
            </a:extLst>
          </p:cNvPr>
          <p:cNvCxnSpPr/>
          <p:nvPr/>
        </p:nvCxnSpPr>
        <p:spPr>
          <a:xfrm flipH="1">
            <a:off x="5294466" y="2942360"/>
            <a:ext cx="127939" cy="263040"/>
          </a:xfrm>
          <a:prstGeom prst="straightConnector1">
            <a:avLst/>
          </a:prstGeom>
          <a:ln>
            <a:solidFill>
              <a:srgbClr val="F976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D3F456C-5E7F-8CD1-7131-CBD74D100012}"/>
              </a:ext>
            </a:extLst>
          </p:cNvPr>
          <p:cNvCxnSpPr>
            <a:cxnSpLocks/>
          </p:cNvCxnSpPr>
          <p:nvPr/>
        </p:nvCxnSpPr>
        <p:spPr>
          <a:xfrm flipV="1">
            <a:off x="5436807" y="1922432"/>
            <a:ext cx="1465709" cy="1013399"/>
          </a:xfrm>
          <a:prstGeom prst="line">
            <a:avLst/>
          </a:prstGeom>
          <a:ln>
            <a:solidFill>
              <a:srgbClr val="00BFC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8671975-4A3F-E77A-3F95-8A8DBE88CECC}"/>
              </a:ext>
            </a:extLst>
          </p:cNvPr>
          <p:cNvCxnSpPr/>
          <p:nvPr/>
        </p:nvCxnSpPr>
        <p:spPr>
          <a:xfrm flipV="1">
            <a:off x="5422405" y="1440131"/>
            <a:ext cx="675939" cy="1502229"/>
          </a:xfrm>
          <a:prstGeom prst="line">
            <a:avLst/>
          </a:prstGeom>
          <a:ln>
            <a:solidFill>
              <a:srgbClr val="F976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E94430D-35BD-82CA-890B-10BCEABD2B4A}"/>
              </a:ext>
            </a:extLst>
          </p:cNvPr>
          <p:cNvCxnSpPr>
            <a:cxnSpLocks/>
          </p:cNvCxnSpPr>
          <p:nvPr/>
        </p:nvCxnSpPr>
        <p:spPr>
          <a:xfrm flipH="1">
            <a:off x="10058400" y="3383038"/>
            <a:ext cx="34545" cy="161220"/>
          </a:xfrm>
          <a:prstGeom prst="straightConnector1">
            <a:avLst/>
          </a:prstGeom>
          <a:ln>
            <a:solidFill>
              <a:srgbClr val="F976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A775CC7-5B24-687F-D54D-7B862D591D37}"/>
              </a:ext>
            </a:extLst>
          </p:cNvPr>
          <p:cNvCxnSpPr>
            <a:cxnSpLocks/>
          </p:cNvCxnSpPr>
          <p:nvPr/>
        </p:nvCxnSpPr>
        <p:spPr>
          <a:xfrm flipH="1">
            <a:off x="9950723" y="3375912"/>
            <a:ext cx="141042" cy="168346"/>
          </a:xfrm>
          <a:prstGeom prst="straightConnector1">
            <a:avLst/>
          </a:prstGeom>
          <a:ln>
            <a:solidFill>
              <a:srgbClr val="00BF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698DD38-33A1-0C50-6100-777EE411EEFE}"/>
              </a:ext>
            </a:extLst>
          </p:cNvPr>
          <p:cNvCxnSpPr>
            <a:cxnSpLocks/>
          </p:cNvCxnSpPr>
          <p:nvPr/>
        </p:nvCxnSpPr>
        <p:spPr>
          <a:xfrm flipV="1">
            <a:off x="10096119" y="2210636"/>
            <a:ext cx="955860" cy="1164891"/>
          </a:xfrm>
          <a:prstGeom prst="line">
            <a:avLst/>
          </a:prstGeom>
          <a:ln>
            <a:solidFill>
              <a:srgbClr val="00BFC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AC3DA09-52D1-56ED-5206-3B4483E189A5}"/>
              </a:ext>
            </a:extLst>
          </p:cNvPr>
          <p:cNvCxnSpPr>
            <a:cxnSpLocks/>
          </p:cNvCxnSpPr>
          <p:nvPr/>
        </p:nvCxnSpPr>
        <p:spPr>
          <a:xfrm flipV="1">
            <a:off x="10091765" y="1703618"/>
            <a:ext cx="255404" cy="1676532"/>
          </a:xfrm>
          <a:prstGeom prst="line">
            <a:avLst/>
          </a:prstGeom>
          <a:ln>
            <a:solidFill>
              <a:srgbClr val="F976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85FD5DE-58A6-595B-9F09-4402F84F9046}"/>
              </a:ext>
            </a:extLst>
          </p:cNvPr>
          <p:cNvSpPr txBox="1"/>
          <p:nvPr/>
        </p:nvSpPr>
        <p:spPr>
          <a:xfrm>
            <a:off x="5944339" y="4119435"/>
            <a:ext cx="510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consumption rate figures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48098-46D1-09D4-F2C1-4D49E5A52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7615" y="373781"/>
            <a:ext cx="1237129" cy="1325563"/>
          </a:xfrm>
        </p:spPr>
        <p:txBody>
          <a:bodyPr>
            <a:normAutofit/>
          </a:bodyPr>
          <a:lstStyle/>
          <a:p>
            <a:r>
              <a:rPr lang="en-US" sz="1800" u="sng" dirty="0">
                <a:latin typeface="+mn-lt"/>
              </a:rPr>
              <a:t>ZNGIs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67C4-C74B-6556-DEDA-629651F1B79E}"/>
              </a:ext>
            </a:extLst>
          </p:cNvPr>
          <p:cNvSpPr txBox="1"/>
          <p:nvPr/>
        </p:nvSpPr>
        <p:spPr>
          <a:xfrm>
            <a:off x="4689169" y="87336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Perfectly symmetrical resource use scenario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486E0-7CD9-6DF6-7E71-CADF2A5651B1}"/>
              </a:ext>
            </a:extLst>
          </p:cNvPr>
          <p:cNvSpPr txBox="1"/>
          <p:nvPr/>
        </p:nvSpPr>
        <p:spPr>
          <a:xfrm>
            <a:off x="8276946" y="76881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Generalist consumer vs. specialist consumer</a:t>
            </a:r>
          </a:p>
        </p:txBody>
      </p:sp>
    </p:spTree>
    <p:extLst>
      <p:ext uri="{BB962C8B-B14F-4D97-AF65-F5344CB8AC3E}">
        <p14:creationId xmlns:p14="http://schemas.microsoft.com/office/powerpoint/2010/main" val="1752328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fireworks on a black background&#10;&#10;AI-generated content may be incorrect.">
            <a:extLst>
              <a:ext uri="{FF2B5EF4-FFF2-40B4-BE49-F238E27FC236}">
                <a16:creationId xmlns:a16="http://schemas.microsoft.com/office/drawing/2014/main" id="{F731C0D8-983D-7EA9-7042-6660CCBE5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512" y="904578"/>
            <a:ext cx="4480256" cy="336019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46DC6A29-9275-C5F7-A9C1-F63954351FB3}"/>
              </a:ext>
            </a:extLst>
          </p:cNvPr>
          <p:cNvGrpSpPr/>
          <p:nvPr/>
        </p:nvGrpSpPr>
        <p:grpSpPr>
          <a:xfrm>
            <a:off x="217654" y="1185209"/>
            <a:ext cx="3182802" cy="2691406"/>
            <a:chOff x="831144" y="1174450"/>
            <a:chExt cx="3479697" cy="29534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0AFBEA4-890F-DB00-0601-998098E41DFA}"/>
                </a:ext>
              </a:extLst>
            </p:cNvPr>
            <p:cNvGrpSpPr/>
            <p:nvPr/>
          </p:nvGrpSpPr>
          <p:grpSpPr>
            <a:xfrm>
              <a:off x="1251987" y="1174450"/>
              <a:ext cx="3058854" cy="2636229"/>
              <a:chOff x="2155371" y="3725735"/>
              <a:chExt cx="3058854" cy="263622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66F7594-DCDB-D817-66A3-3D71BA50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5336" b="18798"/>
              <a:stretch/>
            </p:blipFill>
            <p:spPr>
              <a:xfrm>
                <a:off x="2155371" y="3725735"/>
                <a:ext cx="3058854" cy="2374619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3DF075B-DA66-1E52-42DF-337743151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296" b="18211"/>
              <a:stretch/>
            </p:blipFill>
            <p:spPr>
              <a:xfrm>
                <a:off x="2360127" y="3904442"/>
                <a:ext cx="2854098" cy="2017205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09CC0-C635-68A3-0D16-B35070E93FDB}"/>
                  </a:ext>
                </a:extLst>
              </p:cNvPr>
              <p:cNvSpPr txBox="1"/>
              <p:nvPr/>
            </p:nvSpPr>
            <p:spPr>
              <a:xfrm>
                <a:off x="23895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10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2CDA27-3A03-4A85-73FC-6E5E61DF3ECC}"/>
                  </a:ext>
                </a:extLst>
              </p:cNvPr>
              <p:cNvSpPr txBox="1"/>
              <p:nvPr/>
            </p:nvSpPr>
            <p:spPr>
              <a:xfrm>
                <a:off x="4105247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453D17-6197-28E2-ECBC-F32844B60677}"/>
                  </a:ext>
                </a:extLst>
              </p:cNvPr>
              <p:cNvSpPr txBox="1"/>
              <p:nvPr/>
            </p:nvSpPr>
            <p:spPr>
              <a:xfrm>
                <a:off x="2933973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15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B91C9A-2777-E476-236C-EEDC1AF4AF32}"/>
                  </a:ext>
                </a:extLst>
              </p:cNvPr>
              <p:cNvSpPr txBox="1"/>
              <p:nvPr/>
            </p:nvSpPr>
            <p:spPr>
              <a:xfrm>
                <a:off x="35196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20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D6BC76-DD13-ED4C-D7E6-1D4F3E3CB91B}"/>
                  </a:ext>
                </a:extLst>
              </p:cNvPr>
              <p:cNvSpPr txBox="1"/>
              <p:nvPr/>
            </p:nvSpPr>
            <p:spPr>
              <a:xfrm>
                <a:off x="4589989" y="6084949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30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C2FE08-A5C4-99A3-BA7B-095C44F3A1C6}"/>
                </a:ext>
              </a:extLst>
            </p:cNvPr>
            <p:cNvSpPr txBox="1"/>
            <p:nvPr/>
          </p:nvSpPr>
          <p:spPr>
            <a:xfrm rot="16200000">
              <a:off x="447833" y="2019058"/>
              <a:ext cx="107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Rate</a:t>
              </a:r>
              <a:endParaRPr lang="en-US" sz="2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B723379-3F18-026B-6C80-138534915092}"/>
                </a:ext>
              </a:extLst>
            </p:cNvPr>
            <p:cNvSpPr txBox="1"/>
            <p:nvPr/>
          </p:nvSpPr>
          <p:spPr>
            <a:xfrm>
              <a:off x="2166491" y="3820076"/>
              <a:ext cx="18983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Temperature (°C)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77199CC-D161-7D03-3AB1-38638DB5C4C0}"/>
              </a:ext>
            </a:extLst>
          </p:cNvPr>
          <p:cNvSpPr txBox="1"/>
          <p:nvPr/>
        </p:nvSpPr>
        <p:spPr>
          <a:xfrm>
            <a:off x="816752" y="976879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645B6-1E40-B5CD-E122-D1951EE0EBFC}"/>
              </a:ext>
            </a:extLst>
          </p:cNvPr>
          <p:cNvSpPr txBox="1"/>
          <p:nvPr/>
        </p:nvSpPr>
        <p:spPr>
          <a:xfrm>
            <a:off x="4314775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79B1-A18F-3C18-9BA5-1124F805AD03}"/>
              </a:ext>
            </a:extLst>
          </p:cNvPr>
          <p:cNvSpPr txBox="1"/>
          <p:nvPr/>
        </p:nvSpPr>
        <p:spPr>
          <a:xfrm>
            <a:off x="7741013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29" name="Picture 28" descr="A black triangle with a red and yellow explosion&#10;&#10;AI-generated content may be incorrect.">
            <a:extLst>
              <a:ext uri="{FF2B5EF4-FFF2-40B4-BE49-F238E27FC236}">
                <a16:creationId xmlns:a16="http://schemas.microsoft.com/office/drawing/2014/main" id="{14CC1370-A7D9-B4C5-C359-328560DF0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278"/>
          <a:stretch/>
        </p:blipFill>
        <p:spPr>
          <a:xfrm>
            <a:off x="3487026" y="904578"/>
            <a:ext cx="3482122" cy="33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777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3F5DB-E921-054C-BC15-A071BACC9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738130"/>
            <a:ext cx="7772400" cy="518160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614E79D2-5468-A4B0-7640-2B831C66A980}"/>
              </a:ext>
            </a:extLst>
          </p:cNvPr>
          <p:cNvSpPr/>
          <p:nvPr/>
        </p:nvSpPr>
        <p:spPr>
          <a:xfrm>
            <a:off x="7711205" y="1519355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EACC97-0B75-67A2-971B-C9B7765F31BB}"/>
              </a:ext>
            </a:extLst>
          </p:cNvPr>
          <p:cNvSpPr/>
          <p:nvPr/>
        </p:nvSpPr>
        <p:spPr>
          <a:xfrm>
            <a:off x="7711195" y="1681841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4BBF68-01DE-3CA2-365B-C8185F487057}"/>
              </a:ext>
            </a:extLst>
          </p:cNvPr>
          <p:cNvSpPr/>
          <p:nvPr/>
        </p:nvSpPr>
        <p:spPr>
          <a:xfrm>
            <a:off x="2568906" y="416676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8DA737-3897-FE7C-1A88-E928633000CB}"/>
              </a:ext>
            </a:extLst>
          </p:cNvPr>
          <p:cNvSpPr/>
          <p:nvPr/>
        </p:nvSpPr>
        <p:spPr>
          <a:xfrm>
            <a:off x="2568896" y="432925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F488A6-CC9E-6579-8C9F-4EA465A9359B}"/>
              </a:ext>
            </a:extLst>
          </p:cNvPr>
          <p:cNvSpPr/>
          <p:nvPr/>
        </p:nvSpPr>
        <p:spPr>
          <a:xfrm>
            <a:off x="5135619" y="4080504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CE49650-AE2F-E5D3-33ED-BA3DC4004D17}"/>
              </a:ext>
            </a:extLst>
          </p:cNvPr>
          <p:cNvSpPr/>
          <p:nvPr/>
        </p:nvSpPr>
        <p:spPr>
          <a:xfrm>
            <a:off x="5135609" y="4242990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2BE2238-740D-CC57-B67C-2BA2BBCD6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7" t="12507" r="77279" b="82511"/>
          <a:stretch/>
        </p:blipFill>
        <p:spPr>
          <a:xfrm>
            <a:off x="2428946" y="1022470"/>
            <a:ext cx="1246405" cy="309283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A28ECD2-6F1B-2347-F99F-99369A38CA0C}"/>
              </a:ext>
            </a:extLst>
          </p:cNvPr>
          <p:cNvSpPr/>
          <p:nvPr/>
        </p:nvSpPr>
        <p:spPr>
          <a:xfrm>
            <a:off x="2551814" y="1414130"/>
            <a:ext cx="1123537" cy="255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32CB0E-1C81-0421-BBFB-02CA93219371}"/>
              </a:ext>
            </a:extLst>
          </p:cNvPr>
          <p:cNvSpPr/>
          <p:nvPr/>
        </p:nvSpPr>
        <p:spPr>
          <a:xfrm>
            <a:off x="5817929" y="1326337"/>
            <a:ext cx="987317" cy="342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59B26-4B07-562C-3F2B-75F741CA1D13}"/>
              </a:ext>
            </a:extLst>
          </p:cNvPr>
          <p:cNvSpPr/>
          <p:nvPr/>
        </p:nvSpPr>
        <p:spPr>
          <a:xfrm>
            <a:off x="7960507" y="1285523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719F3C-A52C-4DEC-068B-68B88947DAE9}"/>
              </a:ext>
            </a:extLst>
          </p:cNvPr>
          <p:cNvSpPr/>
          <p:nvPr/>
        </p:nvSpPr>
        <p:spPr>
          <a:xfrm>
            <a:off x="5542433" y="3885877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51A1DD-85D8-154F-F688-D093D93453C7}"/>
              </a:ext>
            </a:extLst>
          </p:cNvPr>
          <p:cNvSpPr/>
          <p:nvPr/>
        </p:nvSpPr>
        <p:spPr>
          <a:xfrm>
            <a:off x="2775097" y="3852427"/>
            <a:ext cx="793997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E99F80D-1EB7-4172-DC63-C0AB7A3D2F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119" t="11773" r="6496" b="80968"/>
          <a:stretch/>
        </p:blipFill>
        <p:spPr>
          <a:xfrm>
            <a:off x="7556218" y="1026704"/>
            <a:ext cx="1246405" cy="4506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02CA5C-AE1A-0B9D-F850-98D94A184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13" t="59467" r="78580" b="32548"/>
          <a:stretch/>
        </p:blipFill>
        <p:spPr>
          <a:xfrm>
            <a:off x="2326651" y="3515025"/>
            <a:ext cx="896892" cy="50215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C510DF7-38AA-39BA-0D47-08C7980EEB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910" t="60939" r="37705" b="31802"/>
          <a:stretch/>
        </p:blipFill>
        <p:spPr>
          <a:xfrm>
            <a:off x="4970354" y="3604377"/>
            <a:ext cx="1246405" cy="4506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075154-28B0-E7B4-0518-F1073E08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637" t="11238" r="36942" b="82098"/>
          <a:stretch/>
        </p:blipFill>
        <p:spPr>
          <a:xfrm>
            <a:off x="5753100" y="970246"/>
            <a:ext cx="1063518" cy="4137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C9AAA2D-A8F5-D3C9-E7D2-068FD79710E4}"/>
              </a:ext>
            </a:extLst>
          </p:cNvPr>
          <p:cNvSpPr/>
          <p:nvPr/>
        </p:nvSpPr>
        <p:spPr>
          <a:xfrm>
            <a:off x="2528649" y="134529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C73219-F918-D525-BD40-14CCB8034856}"/>
              </a:ext>
            </a:extLst>
          </p:cNvPr>
          <p:cNvSpPr/>
          <p:nvPr/>
        </p:nvSpPr>
        <p:spPr>
          <a:xfrm>
            <a:off x="2528639" y="150778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78480-1508-8698-CEE5-E57BC620C043}"/>
              </a:ext>
            </a:extLst>
          </p:cNvPr>
          <p:cNvSpPr txBox="1"/>
          <p:nvPr/>
        </p:nvSpPr>
        <p:spPr>
          <a:xfrm>
            <a:off x="2572138" y="1261563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c1b</a:t>
            </a:r>
            <a:r>
              <a:rPr lang="en-US" sz="1000" dirty="0"/>
              <a:t> &gt; E</a:t>
            </a:r>
            <a:r>
              <a:rPr lang="en-US" sz="1000" baseline="-25000" dirty="0"/>
              <a:t>c1a</a:t>
            </a:r>
            <a:endParaRPr 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3B6138-627E-B986-1765-0351B8F94113}"/>
              </a:ext>
            </a:extLst>
          </p:cNvPr>
          <p:cNvSpPr txBox="1"/>
          <p:nvPr/>
        </p:nvSpPr>
        <p:spPr>
          <a:xfrm>
            <a:off x="2567400" y="1435620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c1a</a:t>
            </a:r>
            <a:r>
              <a:rPr lang="en-US" sz="1000" dirty="0"/>
              <a:t> &gt; E</a:t>
            </a:r>
            <a:r>
              <a:rPr lang="en-US" sz="1000" baseline="-25000" dirty="0"/>
              <a:t>c1b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A80C30-0FE0-36C6-A855-2F78A7C4AA98}"/>
              </a:ext>
            </a:extLst>
          </p:cNvPr>
          <p:cNvSpPr txBox="1"/>
          <p:nvPr/>
        </p:nvSpPr>
        <p:spPr>
          <a:xfrm>
            <a:off x="7751451" y="143879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Kb</a:t>
            </a:r>
            <a:r>
              <a:rPr lang="en-US" sz="1000" dirty="0"/>
              <a:t> &gt; E</a:t>
            </a:r>
            <a:r>
              <a:rPr lang="en-US" sz="1000" baseline="-25000" dirty="0"/>
              <a:t>Ka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C777C-4B6C-193A-85FD-35709FF40372}"/>
              </a:ext>
            </a:extLst>
          </p:cNvPr>
          <p:cNvSpPr txBox="1"/>
          <p:nvPr/>
        </p:nvSpPr>
        <p:spPr>
          <a:xfrm>
            <a:off x="7751451" y="159571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Ka</a:t>
            </a:r>
            <a:r>
              <a:rPr lang="en-US" sz="1000" dirty="0"/>
              <a:t> &gt; E</a:t>
            </a:r>
            <a:r>
              <a:rPr lang="en-US" sz="1000" baseline="-25000" dirty="0"/>
              <a:t>Kb</a:t>
            </a:r>
            <a:endParaRPr lang="en-US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6A4AC-36D9-33BE-82CD-935051BDFA3F}"/>
              </a:ext>
            </a:extLst>
          </p:cNvPr>
          <p:cNvSpPr txBox="1"/>
          <p:nvPr/>
        </p:nvSpPr>
        <p:spPr>
          <a:xfrm>
            <a:off x="2609152" y="408303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vb</a:t>
            </a:r>
            <a:r>
              <a:rPr lang="en-US" sz="1000" dirty="0"/>
              <a:t> &gt; E</a:t>
            </a:r>
            <a:r>
              <a:rPr lang="en-US" sz="1000" baseline="-25000" dirty="0"/>
              <a:t>va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C8F2A9-AAF5-F36B-7154-30FC17ADEBEF}"/>
              </a:ext>
            </a:extLst>
          </p:cNvPr>
          <p:cNvSpPr txBox="1"/>
          <p:nvPr/>
        </p:nvSpPr>
        <p:spPr>
          <a:xfrm>
            <a:off x="2608400" y="4247832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va</a:t>
            </a:r>
            <a:r>
              <a:rPr lang="en-US" sz="1000" dirty="0"/>
              <a:t> &gt; E</a:t>
            </a:r>
            <a:r>
              <a:rPr lang="en-US" sz="1000" baseline="-25000" dirty="0"/>
              <a:t>vb</a:t>
            </a:r>
            <a:endParaRPr lang="en-US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283E32-D0CD-FE74-2528-D866FBE8D9D0}"/>
              </a:ext>
            </a:extLst>
          </p:cNvPr>
          <p:cNvSpPr txBox="1"/>
          <p:nvPr/>
        </p:nvSpPr>
        <p:spPr>
          <a:xfrm>
            <a:off x="5171228" y="4163011"/>
            <a:ext cx="7933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m1</a:t>
            </a:r>
            <a:r>
              <a:rPr lang="en-US" sz="1000" dirty="0"/>
              <a:t> &gt; E</a:t>
            </a:r>
            <a:r>
              <a:rPr lang="en-US" sz="1000" baseline="-25000" dirty="0"/>
              <a:t>m2</a:t>
            </a:r>
            <a:endParaRPr lang="en-US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49EF7-1CE2-1CAA-FF78-A6C0A670E0AC}"/>
              </a:ext>
            </a:extLst>
          </p:cNvPr>
          <p:cNvSpPr txBox="1"/>
          <p:nvPr/>
        </p:nvSpPr>
        <p:spPr>
          <a:xfrm>
            <a:off x="5170566" y="4004002"/>
            <a:ext cx="7939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m2</a:t>
            </a:r>
            <a:r>
              <a:rPr lang="en-US" sz="1000" dirty="0"/>
              <a:t> &gt; E</a:t>
            </a:r>
            <a:r>
              <a:rPr lang="en-US" sz="1000" baseline="-25000" dirty="0"/>
              <a:t>m1</a:t>
            </a:r>
            <a:endParaRPr lang="en-US" sz="1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ED2E25-19E6-D6B5-D4D5-7F33EA79E544}"/>
              </a:ext>
            </a:extLst>
          </p:cNvPr>
          <p:cNvGrpSpPr/>
          <p:nvPr/>
        </p:nvGrpSpPr>
        <p:grpSpPr>
          <a:xfrm>
            <a:off x="5975995" y="1383976"/>
            <a:ext cx="709257" cy="408707"/>
            <a:chOff x="6095990" y="2231900"/>
            <a:chExt cx="709257" cy="4087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832D57B-E8D0-B7B2-B32B-ED251A4FAB0B}"/>
                </a:ext>
              </a:extLst>
            </p:cNvPr>
            <p:cNvSpPr/>
            <p:nvPr/>
          </p:nvSpPr>
          <p:spPr>
            <a:xfrm>
              <a:off x="6096000" y="2311879"/>
              <a:ext cx="80513" cy="86264"/>
            </a:xfrm>
            <a:prstGeom prst="ellipse">
              <a:avLst/>
            </a:prstGeom>
            <a:solidFill>
              <a:srgbClr val="00BFC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16D42EE-2159-95A3-632F-8A6D32CF4814}"/>
                </a:ext>
              </a:extLst>
            </p:cNvPr>
            <p:cNvSpPr/>
            <p:nvPr/>
          </p:nvSpPr>
          <p:spPr>
            <a:xfrm>
              <a:off x="6095990" y="2474365"/>
              <a:ext cx="80513" cy="86264"/>
            </a:xfrm>
            <a:prstGeom prst="ellipse">
              <a:avLst/>
            </a:prstGeom>
            <a:solidFill>
              <a:srgbClr val="F9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23FBE5-98D7-D389-7ABA-EC015132EFD6}"/>
                </a:ext>
              </a:extLst>
            </p:cNvPr>
            <p:cNvSpPr txBox="1"/>
            <p:nvPr/>
          </p:nvSpPr>
          <p:spPr>
            <a:xfrm>
              <a:off x="6136256" y="2394386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ra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rb</a:t>
              </a:r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0445E8-1B2A-1A47-3216-085D4E811AE2}"/>
                </a:ext>
              </a:extLst>
            </p:cNvPr>
            <p:cNvSpPr txBox="1"/>
            <p:nvPr/>
          </p:nvSpPr>
          <p:spPr>
            <a:xfrm>
              <a:off x="6136255" y="2231900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rb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ra</a:t>
              </a:r>
              <a:endParaRPr 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76330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779899-4F6C-29AF-052C-1EBCDC7E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7"/>
          <a:stretch/>
        </p:blipFill>
        <p:spPr>
          <a:xfrm>
            <a:off x="1914248" y="243836"/>
            <a:ext cx="7392488" cy="5181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7FE90BD-9802-3139-85DF-1C5B3EB2E6BC}"/>
              </a:ext>
            </a:extLst>
          </p:cNvPr>
          <p:cNvSpPr/>
          <p:nvPr/>
        </p:nvSpPr>
        <p:spPr>
          <a:xfrm>
            <a:off x="1820091" y="1785255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8A1EC-516E-FD48-C6B6-9CDB1FDD1FA1}"/>
              </a:ext>
            </a:extLst>
          </p:cNvPr>
          <p:cNvSpPr/>
          <p:nvPr/>
        </p:nvSpPr>
        <p:spPr>
          <a:xfrm rot="16200000">
            <a:off x="3675470" y="1904993"/>
            <a:ext cx="387004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51A4C-ECFF-CCB8-9BF0-7DE54A342D39}"/>
              </a:ext>
            </a:extLst>
          </p:cNvPr>
          <p:cNvSpPr/>
          <p:nvPr/>
        </p:nvSpPr>
        <p:spPr>
          <a:xfrm rot="16200000">
            <a:off x="5597347" y="2037560"/>
            <a:ext cx="3870045" cy="282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5E5B7F-C14E-87E1-36F1-E53AD5768E6A}"/>
              </a:ext>
            </a:extLst>
          </p:cNvPr>
          <p:cNvSpPr/>
          <p:nvPr/>
        </p:nvSpPr>
        <p:spPr>
          <a:xfrm rot="16200000">
            <a:off x="855547" y="2615365"/>
            <a:ext cx="566613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7E332-F4F6-9324-49EF-BF907B2E6973}"/>
              </a:ext>
            </a:extLst>
          </p:cNvPr>
          <p:cNvSpPr/>
          <p:nvPr/>
        </p:nvSpPr>
        <p:spPr>
          <a:xfrm>
            <a:off x="1914248" y="3466006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72DB0B-89EF-CF30-CF3C-9AD1CC196534}"/>
              </a:ext>
            </a:extLst>
          </p:cNvPr>
          <p:cNvSpPr/>
          <p:nvPr/>
        </p:nvSpPr>
        <p:spPr>
          <a:xfrm>
            <a:off x="1914248" y="5162852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78119-F2B9-3DA5-96EE-D059AAFC8CA9}"/>
              </a:ext>
            </a:extLst>
          </p:cNvPr>
          <p:cNvSpPr txBox="1"/>
          <p:nvPr/>
        </p:nvSpPr>
        <p:spPr>
          <a:xfrm rot="16200000">
            <a:off x="-545990" y="2403745"/>
            <a:ext cx="4303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Displacement of species pair with warming (Euclidean distance)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8C477-1E66-93D3-D849-E67F77EB6883}"/>
              </a:ext>
            </a:extLst>
          </p:cNvPr>
          <p:cNvSpPr txBox="1"/>
          <p:nvPr/>
        </p:nvSpPr>
        <p:spPr>
          <a:xfrm>
            <a:off x="4096555" y="5354441"/>
            <a:ext cx="4930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Magnitude of thermal asymmetry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376B9-9449-AB67-3507-1AF8C50B706E}"/>
              </a:ext>
            </a:extLst>
          </p:cNvPr>
          <p:cNvSpPr txBox="1"/>
          <p:nvPr/>
        </p:nvSpPr>
        <p:spPr>
          <a:xfrm>
            <a:off x="2401294" y="1707627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rb</a:t>
            </a:r>
            <a:r>
              <a:rPr lang="en-US" sz="1400" dirty="0"/>
              <a:t> – E</a:t>
            </a:r>
            <a:r>
              <a:rPr lang="en-US" sz="1400" baseline="-25000" dirty="0"/>
              <a:t>ra</a:t>
            </a:r>
            <a:r>
              <a:rPr lang="en-US" sz="1400" dirty="0"/>
              <a:t>|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58A56-7DCA-AFB6-F804-9D80BF719BDC}"/>
              </a:ext>
            </a:extLst>
          </p:cNvPr>
          <p:cNvSpPr txBox="1"/>
          <p:nvPr/>
        </p:nvSpPr>
        <p:spPr>
          <a:xfrm>
            <a:off x="4140747" y="1707626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A4557-4464-972C-A8EE-7093FF280DE6}"/>
              </a:ext>
            </a:extLst>
          </p:cNvPr>
          <p:cNvSpPr txBox="1"/>
          <p:nvPr/>
        </p:nvSpPr>
        <p:spPr>
          <a:xfrm>
            <a:off x="6102906" y="170762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c_1a</a:t>
            </a:r>
            <a:r>
              <a:rPr lang="en-US" sz="1400" dirty="0"/>
              <a:t>|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A698B0-F5A5-6018-15EF-A7950C4D0AAD}"/>
              </a:ext>
            </a:extLst>
          </p:cNvPr>
          <p:cNvSpPr txBox="1"/>
          <p:nvPr/>
        </p:nvSpPr>
        <p:spPr>
          <a:xfrm>
            <a:off x="8013405" y="1731757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c_2b</a:t>
            </a:r>
            <a:r>
              <a:rPr lang="en-US" sz="1400" dirty="0"/>
              <a:t>|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689ED-15D7-E5CA-E654-F073DA49EA33}"/>
              </a:ext>
            </a:extLst>
          </p:cNvPr>
          <p:cNvSpPr txBox="1"/>
          <p:nvPr/>
        </p:nvSpPr>
        <p:spPr>
          <a:xfrm>
            <a:off x="2291469" y="338935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c_2b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7F40D-4F3B-F332-E9B1-2441C8675F7E}"/>
              </a:ext>
            </a:extLst>
          </p:cNvPr>
          <p:cNvSpPr txBox="1"/>
          <p:nvPr/>
        </p:nvSpPr>
        <p:spPr>
          <a:xfrm>
            <a:off x="4163638" y="3402931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c_2b</a:t>
            </a:r>
            <a:r>
              <a:rPr lang="en-US" sz="1400" dirty="0"/>
              <a:t> – E</a:t>
            </a:r>
            <a:r>
              <a:rPr lang="en-US" sz="1400" baseline="-25000" dirty="0"/>
              <a:t>c_1a</a:t>
            </a:r>
            <a:r>
              <a:rPr lang="en-US" sz="1400" dirty="0"/>
              <a:t>|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81538-25AD-678F-FB87-6CA2ED505533}"/>
              </a:ext>
            </a:extLst>
          </p:cNvPr>
          <p:cNvSpPr txBox="1"/>
          <p:nvPr/>
        </p:nvSpPr>
        <p:spPr>
          <a:xfrm>
            <a:off x="6054343" y="340363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c_1a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5EF67-B87A-96E1-5810-5A6AAC603C24}"/>
              </a:ext>
            </a:extLst>
          </p:cNvPr>
          <p:cNvSpPr txBox="1"/>
          <p:nvPr/>
        </p:nvSpPr>
        <p:spPr>
          <a:xfrm>
            <a:off x="8140368" y="3415959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Ka</a:t>
            </a:r>
            <a:r>
              <a:rPr lang="en-US" sz="1400" dirty="0"/>
              <a:t> – E</a:t>
            </a:r>
            <a:r>
              <a:rPr lang="en-US" sz="1400" baseline="-25000" dirty="0"/>
              <a:t>Kb</a:t>
            </a:r>
            <a:r>
              <a:rPr lang="en-US" sz="1400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86C463-A57B-5709-2F01-45B06246CDBD}"/>
              </a:ext>
            </a:extLst>
          </p:cNvPr>
          <p:cNvSpPr txBox="1"/>
          <p:nvPr/>
        </p:nvSpPr>
        <p:spPr>
          <a:xfrm>
            <a:off x="2376639" y="5090618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va</a:t>
            </a:r>
            <a:r>
              <a:rPr lang="en-US" sz="1400" dirty="0"/>
              <a:t> – E</a:t>
            </a:r>
            <a:r>
              <a:rPr lang="en-US" sz="1400" baseline="-25000" dirty="0"/>
              <a:t>vb</a:t>
            </a:r>
            <a:r>
              <a:rPr lang="en-US" sz="1400" dirty="0"/>
              <a:t>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3D4AEC-32D6-A6EC-051D-AC1D4398DC0C}"/>
              </a:ext>
            </a:extLst>
          </p:cNvPr>
          <p:cNvSpPr txBox="1"/>
          <p:nvPr/>
        </p:nvSpPr>
        <p:spPr>
          <a:xfrm>
            <a:off x="4282524" y="5095331"/>
            <a:ext cx="1199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m1</a:t>
            </a:r>
            <a:r>
              <a:rPr lang="en-US" sz="1400" dirty="0"/>
              <a:t> – E</a:t>
            </a:r>
            <a:r>
              <a:rPr lang="en-US" sz="1400" baseline="-25000" dirty="0"/>
              <a:t>m2</a:t>
            </a:r>
            <a:r>
              <a:rPr lang="en-US" sz="140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392698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159</Words>
  <Application>Microsoft Macintosh PowerPoint</Application>
  <PresentationFormat>Widescreen</PresentationFormat>
  <Paragraphs>40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ZNGIs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7</cp:revision>
  <dcterms:created xsi:type="dcterms:W3CDTF">2026-01-21T19:39:25Z</dcterms:created>
  <dcterms:modified xsi:type="dcterms:W3CDTF">2026-01-29T03:25:49Z</dcterms:modified>
</cp:coreProperties>
</file>